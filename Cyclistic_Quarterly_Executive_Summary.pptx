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3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8FEC844-2618-4D1A-A187-7A61700DBB16}">
          <p14:sldIdLst>
            <p14:sldId id="256"/>
            <p14:sldId id="257"/>
            <p14:sldId id="258"/>
            <p14:sldId id="259"/>
            <p14:sldId id="264"/>
            <p14:sldId id="260"/>
            <p14:sldId id="263"/>
          </p14:sldIdLst>
        </p14:section>
        <p14:section name="Sección sin título" id="{0DBE1658-6BE7-4123-AF76-A164A8515C12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ub&#233;n\Desktop\Nueva%20carpeta\Studycase%20Bicicletas\analisis_final_trimestre3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0.10441540666312417"/>
          <c:y val="0.1371797828854866"/>
          <c:w val="0.87398950131233599"/>
          <c:h val="0.7770199116770983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analisis_final_trimestre3!$C$1</c:f>
              <c:strCache>
                <c:ptCount val="1"/>
                <c:pt idx="0">
                  <c:v>promedio_minutos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analisis_final_trimestre3!$A$2:$A$15</c:f>
              <c:strCache>
                <c:ptCount val="14"/>
                <c:pt idx="0">
                  <c:v>casual</c:v>
                </c:pt>
                <c:pt idx="1">
                  <c:v>casual</c:v>
                </c:pt>
                <c:pt idx="2">
                  <c:v>casual</c:v>
                </c:pt>
                <c:pt idx="3">
                  <c:v>casual</c:v>
                </c:pt>
                <c:pt idx="4">
                  <c:v>casual</c:v>
                </c:pt>
                <c:pt idx="5">
                  <c:v>casual</c:v>
                </c:pt>
                <c:pt idx="6">
                  <c:v>casual</c:v>
                </c:pt>
                <c:pt idx="7">
                  <c:v>member</c:v>
                </c:pt>
                <c:pt idx="8">
                  <c:v>member</c:v>
                </c:pt>
                <c:pt idx="9">
                  <c:v>member</c:v>
                </c:pt>
                <c:pt idx="10">
                  <c:v>member</c:v>
                </c:pt>
                <c:pt idx="11">
                  <c:v>member</c:v>
                </c:pt>
                <c:pt idx="12">
                  <c:v>member</c:v>
                </c:pt>
                <c:pt idx="13">
                  <c:v>member</c:v>
                </c:pt>
              </c:strCache>
            </c:strRef>
          </c:cat>
          <c:val>
            <c:numRef>
              <c:f>analisis_final_trimestre3!$C$2:$C$15</c:f>
              <c:numCache>
                <c:formatCode>General</c:formatCode>
                <c:ptCount val="14"/>
                <c:pt idx="0">
                  <c:v>28.18136514</c:v>
                </c:pt>
                <c:pt idx="1">
                  <c:v>23.334976099999999</c:v>
                </c:pt>
                <c:pt idx="2">
                  <c:v>20.900431749999999</c:v>
                </c:pt>
                <c:pt idx="3">
                  <c:v>21.572856030000001</c:v>
                </c:pt>
                <c:pt idx="4">
                  <c:v>21.136743859999999</c:v>
                </c:pt>
                <c:pt idx="5">
                  <c:v>23.16457085</c:v>
                </c:pt>
                <c:pt idx="6">
                  <c:v>27.138659130000001</c:v>
                </c:pt>
                <c:pt idx="7">
                  <c:v>14.244228079999999</c:v>
                </c:pt>
                <c:pt idx="8">
                  <c:v>12.23183412</c:v>
                </c:pt>
                <c:pt idx="9">
                  <c:v>12.295144430000001</c:v>
                </c:pt>
                <c:pt idx="10">
                  <c:v>12.346220479999999</c:v>
                </c:pt>
                <c:pt idx="11">
                  <c:v>12.430245810000001</c:v>
                </c:pt>
                <c:pt idx="12">
                  <c:v>12.640934140000001</c:v>
                </c:pt>
                <c:pt idx="13">
                  <c:v>14.292021119999999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B-4402-98E0-CE9E84D1ED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78501184"/>
        <c:axId val="2006534640"/>
      </c:barChart>
      <c:catAx>
        <c:axId val="1978501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06534640"/>
        <c:crosses val="autoZero"/>
        <c:auto val="1"/>
        <c:lblAlgn val="ctr"/>
        <c:lblOffset val="100"/>
        <c:noMultiLvlLbl val="0"/>
      </c:catAx>
      <c:valAx>
        <c:axId val="200653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78501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6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8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8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9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2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5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8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6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814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1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2079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13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8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2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Cyclistic Case Study</a:t>
            </a:r>
          </a:p>
          <a:p>
            <a:r>
              <a:t>Quarterly Executive Summary (Aug–Oct)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&amp;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behavioral differences between Annual Members and Casual Riders.</a:t>
            </a:r>
          </a:p>
          <a:p>
            <a:r>
              <a:t>Use data-driven insights to recommend strategies for converting casual riders into long-term members.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Methodology (SQL Data 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Process: Bulk ingestion of 1.5M+ records using LOAD DATA INFILE.</a:t>
            </a:r>
          </a:p>
          <a:p>
            <a:r>
              <a:t>Data Cleaning: Removed trips under 60 seconds and standardized date formats (TEXT → DATETIME).</a:t>
            </a:r>
          </a:p>
          <a:p>
            <a:r>
              <a:t>Feature Engineering: Created ride_length_seconds and day_of_week for behavioral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3A. Key Findings – Trip Volume &amp; Frequency (The 'When')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Members (Commuters): Highest activity during weekdays (Mon–Fri).</a:t>
            </a:r>
          </a:p>
          <a:p>
            <a:r>
              <a:t>Peak usage on Wednesdays with 295,020 trips.</a:t>
            </a:r>
          </a:p>
          <a:p>
            <a:r>
              <a:t>Weekend usage drops significantly, indicating commuting behavior.</a:t>
            </a:r>
          </a:p>
          <a:p>
            <a:r>
              <a:t>Casual Riders (Leisure Seekers): Activity concentrated on weekends.</a:t>
            </a:r>
          </a:p>
          <a:p>
            <a:r>
              <a:t>Peak usage on Saturdays with 269,218 trips; low weekday 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4A89B87-8CEA-4662-BFFC-DE75088487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977743"/>
              </p:ext>
            </p:extLst>
          </p:nvPr>
        </p:nvGraphicFramePr>
        <p:xfrm>
          <a:off x="915518" y="692523"/>
          <a:ext cx="7932645" cy="5472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993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3B. Key Findings – Ride Duration (The 'How Long')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Members: Consistent and efficient rides averaging 12–14 minutes daily.</a:t>
            </a:r>
          </a:p>
          <a:p>
            <a:r>
              <a:t>Casual Riders: Longer and more engaged trips.</a:t>
            </a:r>
          </a:p>
          <a:p>
            <a:r>
              <a:t>Sunday average duration reaches 28.18 minutes.</a:t>
            </a:r>
          </a:p>
          <a:p>
            <a:r>
              <a:t>More than double the average member duration (14.24 minutes).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3B10D67-7508-434B-AF61-6855DD84F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47" y="1539688"/>
            <a:ext cx="7953087" cy="295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7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Weekend Membership Tier: Introduce a Weekend-Only Membership or Leisure Pass.</a:t>
            </a:r>
          </a:p>
          <a:p>
            <a:r>
              <a:t>Targeted Duration Marketing: Promote cost savings for trips exceeding 20 minutes.</a:t>
            </a:r>
          </a:p>
          <a:p>
            <a:r>
              <a:t>Digital Milestone Rewards: Offer discounts on annual memberships after reaching weekend trip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(Portfolio Statement)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 drive weekday frequency; Casual Riders drive weekend duration and utilization.</a:t>
            </a:r>
          </a:p>
          <a:p>
            <a:r>
              <a:t>The primary growth opportunity lies in converting high-duration weekend users into annual 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239</TotalTime>
  <Words>299</Words>
  <Application>Microsoft Office PowerPoint</Application>
  <PresentationFormat>Presentación en pantalla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Espiral</vt:lpstr>
      <vt:lpstr>Cyclistic Case Study Quarterly Executive Summary (Aug–Oct)</vt:lpstr>
      <vt:lpstr>1. Business Task</vt:lpstr>
      <vt:lpstr>2. Technical Methodology (SQL Data Processing)</vt:lpstr>
      <vt:lpstr>3A. Key Findings – Trip Volume &amp; Frequency (The 'When')</vt:lpstr>
      <vt:lpstr>Presentación de PowerPoint</vt:lpstr>
      <vt:lpstr>3B. Key Findings – Ride Duration (The 'How Long')</vt:lpstr>
      <vt:lpstr>Presentación de PowerPoint</vt:lpstr>
      <vt:lpstr>4. Final Recommendations</vt:lpstr>
      <vt:lpstr>Conclusion (Portfolio Statement)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 Quarterly Executive Summary (Aug–Oct)</dc:title>
  <dc:subject/>
  <dc:creator/>
  <cp:keywords/>
  <dc:description>generated using python-pptx</dc:description>
  <cp:lastModifiedBy>Rubfen Ponce</cp:lastModifiedBy>
  <cp:revision>3</cp:revision>
  <dcterms:created xsi:type="dcterms:W3CDTF">2013-01-27T09:14:16Z</dcterms:created>
  <dcterms:modified xsi:type="dcterms:W3CDTF">2025-12-23T05:43:34Z</dcterms:modified>
  <cp:category/>
</cp:coreProperties>
</file>